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6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87467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832"/>
            <a:ext cx="4206240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41874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</a:t>
            </a:r>
            <a:endParaRPr lang="en-US" sz="6000" dirty="0"/>
          </a:p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20040" y="315468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Deep Learning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37033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classes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405079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images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439826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epochs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9144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du travail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52160" y="15544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phylake1337/fire-dataset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0" y="1828800"/>
            <a:ext cx="4206240" cy="10973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12140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52160" y="212140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torchvision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0" y="2395728"/>
            <a:ext cx="4206240" cy="10973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26883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52160" y="268833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binaire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0" y="2962656"/>
            <a:ext cx="4206240" cy="10973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325526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852160" y="3255264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SimpleCNN · ResNet-50 · EfficientNet-B0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0" y="3686898"/>
            <a:ext cx="4206240" cy="10973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37490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0" y="409651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409651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1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8032" y="411480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Données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572000" y="439826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439826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2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28032" y="44165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Architectures comparées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72000" y="4700016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470001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3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28032" y="47183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Interprétation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75488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16459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097280"/>
            <a:ext cx="157276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097280"/>
            <a:ext cx="1572768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0972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56032" y="1627632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📥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56032" y="2240280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" y="26334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fire_images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6032" y="29352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non_fire_images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" y="323697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~1 200 images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28800" y="260604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993392" y="1097280"/>
            <a:ext cx="157276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993392" y="1097280"/>
            <a:ext cx="1572768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10972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993392" y="1627632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🔧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993392" y="2240280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993392" y="26334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224×224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93392" y="29352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ImageNet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993392" y="323697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80 / 20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66160" y="260604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730752" y="1097280"/>
            <a:ext cx="157276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730752" y="1097280"/>
            <a:ext cx="1572768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30752" y="10972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730752" y="1627632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🎲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3730752" y="2240280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730752" y="26334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H/V · Rotation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730752" y="29352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ColorJitter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730752" y="323697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GaussianBlur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03520" y="260604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68112" y="1097280"/>
            <a:ext cx="157276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468112" y="1097280"/>
            <a:ext cx="1572768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68112" y="10972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468112" y="1627632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🏗️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5468112" y="2240280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68112" y="26334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SimpleCNN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68112" y="29352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68112" y="323697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040880" y="260604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205472" y="1097280"/>
            <a:ext cx="157276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205472" y="1097280"/>
            <a:ext cx="1572768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05472" y="10972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205472" y="1627632"/>
            <a:ext cx="1572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7205472" y="2240280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205472" y="26334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Loss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205472" y="29352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· Confusion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205472" y="323697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75488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Architectures comparées</a:t>
            </a:r>
            <a:endParaRPr lang="en-US" sz="2600" dirty="0">
              <a:cs typeface="+mj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16459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078992"/>
            <a:ext cx="2697480" cy="374904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92608" y="1078992"/>
            <a:ext cx="2697480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1078992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+mj-cs"/>
              </a:rPr>
              <a:t>SimpleCNN</a:t>
            </a:r>
            <a:endParaRPr lang="en-US" sz="1500" dirty="0">
              <a:cs typeface="+mj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292608" y="1609344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+mj-cs"/>
              </a:rPr>
              <a:t>From scratch</a:t>
            </a:r>
            <a:endParaRPr lang="en-US" sz="1400" dirty="0">
              <a:cs typeface="+mj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92608" y="19202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smtClean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+mj-cs"/>
              </a:rPr>
              <a:t>500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+mj-cs"/>
              </a:rPr>
              <a:t>K paramètres</a:t>
            </a:r>
            <a:endParaRPr lang="en-US" sz="1100" dirty="0">
              <a:cs typeface="+mj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75488" y="2212848"/>
            <a:ext cx="2331720" cy="1280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0428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4 blocs Conv + BN + ReLU</a:t>
            </a:r>
            <a:endParaRPr lang="en-US" sz="1200" dirty="0">
              <a:cs typeface="+mj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268833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MaxPool + Dropout</a:t>
            </a:r>
            <a:endParaRPr lang="en-US" sz="1200" dirty="0">
              <a:cs typeface="+mj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307238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AdaptiveAvgPool</a:t>
            </a:r>
            <a:endParaRPr lang="en-US" sz="1200" dirty="0">
              <a:cs typeface="+mj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34564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Optimiseur : Adam lr=3e-4</a:t>
            </a:r>
            <a:endParaRPr lang="en-US" sz="1200" dirty="0">
              <a:cs typeface="+mj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00400" y="1078992"/>
            <a:ext cx="2697480" cy="374904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1078992"/>
            <a:ext cx="2697480" cy="47548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78992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+mj-cs"/>
              </a:rPr>
              <a:t>ResNet-50</a:t>
            </a:r>
            <a:endParaRPr lang="en-US" sz="1500" dirty="0">
              <a:cs typeface="+mj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00400" y="1609344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+mj-cs"/>
              </a:rPr>
              <a:t>Feature extraction</a:t>
            </a:r>
            <a:endParaRPr lang="en-US" sz="1400" dirty="0">
              <a:cs typeface="+mj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200400" y="19202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smtClean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+mj-cs"/>
              </a:rPr>
              <a:t>25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+mj-cs"/>
              </a:rPr>
              <a:t>M (4 K trainables)</a:t>
            </a:r>
            <a:endParaRPr lang="en-US" sz="1100" dirty="0">
              <a:cs typeface="+mj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383280" y="2212848"/>
            <a:ext cx="2331720" cy="1280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230428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Backbone ImageNet gelé</a:t>
            </a:r>
            <a:endParaRPr lang="en-US" sz="1200" dirty="0">
              <a:cs typeface="+mj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364992" y="268833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Seule la tête fc entraînée</a:t>
            </a:r>
            <a:endParaRPr lang="en-US" sz="1200" dirty="0">
              <a:cs typeface="+mj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364992" y="307238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Dropout 0.3</a:t>
            </a:r>
            <a:endParaRPr lang="en-US" sz="1200" dirty="0">
              <a:cs typeface="+mj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364992" y="34564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Optimiseur : Adam lr=1e-4</a:t>
            </a:r>
            <a:endParaRPr lang="en-US" sz="1200" dirty="0">
              <a:cs typeface="+mj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108192" y="1078992"/>
            <a:ext cx="2697480" cy="374904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08192" y="1078992"/>
            <a:ext cx="2697480" cy="47548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1078992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+mj-cs"/>
              </a:rPr>
              <a:t>EfficientNet-B0</a:t>
            </a:r>
            <a:endParaRPr lang="en-US" sz="1500" dirty="0">
              <a:cs typeface="+mj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108192" y="1609344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+mj-cs"/>
              </a:rPr>
              <a:t>Fine-tuning complet</a:t>
            </a:r>
            <a:endParaRPr lang="en-US" sz="1400" dirty="0">
              <a:cs typeface="+mj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108192" y="19202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smtClean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+mj-cs"/>
              </a:rPr>
              <a:t>5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+mj-cs"/>
              </a:rPr>
              <a:t>M paramètres</a:t>
            </a:r>
            <a:endParaRPr lang="en-US" sz="1100" dirty="0">
              <a:cs typeface="+mj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291072" y="2212848"/>
            <a:ext cx="2331720" cy="1280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72784" y="230428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Tous les poids libres</a:t>
            </a:r>
            <a:endParaRPr lang="en-US" sz="1200" dirty="0">
              <a:cs typeface="+mj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272784" y="268833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Classifier remplacé</a:t>
            </a:r>
            <a:endParaRPr lang="en-US" sz="1200" dirty="0">
              <a:cs typeface="+mj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272784" y="307238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AdamW + weight_decay</a:t>
            </a:r>
            <a:endParaRPr lang="en-US" sz="1200" dirty="0">
              <a:cs typeface="+mj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272784" y="34564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+mj-cs"/>
              </a:rPr>
              <a:t>• CosineAnnealingLR</a:t>
            </a:r>
            <a:endParaRPr lang="en-US" sz="1200" dirty="0">
              <a:cs typeface="+mj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75488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Courbes d'apprentissage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16459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051560"/>
            <a:ext cx="8503920" cy="33101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4480560"/>
            <a:ext cx="2651760" cy="3840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448056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SimpleCNN  96.5%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00400" y="4480560"/>
            <a:ext cx="2651760" cy="38404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0" y="448056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  76.5%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80760" y="4480560"/>
            <a:ext cx="2651760" cy="3840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80760" y="448056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  99.5%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75488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Classement final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16459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051560"/>
            <a:ext cx="8046720" cy="3154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28800" y="4370832"/>
            <a:ext cx="5486400" cy="502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4370832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EfficientNet-B0 — 99.50% Val Accuracy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75488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confusion — EfficientNet-B0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16459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51560"/>
            <a:ext cx="8412480" cy="32735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97280" y="4462272"/>
            <a:ext cx="3474720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446227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Précision fire : 100 %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303520" y="4462272"/>
            <a:ext cx="3474720" cy="41148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446227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Précision non-fire : 97.87 %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75488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— Cartes d'attention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16459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051560"/>
            <a:ext cx="850392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4736592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 1 : images originales     ·     Ligne 2 : activation Grad-CAM (rouge = zone décisive)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75488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16459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115568"/>
            <a:ext cx="548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1115568"/>
            <a:ext cx="75895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surpasse largement le CNN from scratch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" y="1984248"/>
            <a:ext cx="548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1984248"/>
            <a:ext cx="75895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atteint 99.5 % de Val Accuracy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8912" y="2852928"/>
            <a:ext cx="548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👁️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51560" y="2852928"/>
            <a:ext cx="75895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confirme la focalisation sur les zones de flammes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8912" y="3721608"/>
            <a:ext cx="548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51560" y="3721608"/>
            <a:ext cx="75895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seul faux négatif sur l'ensemble de validation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" y="4736592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Pistes d'amélioration : Mixup · WeightedSampler · Fine-tuning progressif · Ensemble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282</Words>
  <Application>Microsoft Office PowerPoint</Application>
  <PresentationFormat>On-screen Show (16:9)</PresentationFormat>
  <Paragraphs>108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Mohamed Hamed IBN HADJ MOHAMED</cp:lastModifiedBy>
  <cp:revision>4</cp:revision>
  <dcterms:created xsi:type="dcterms:W3CDTF">2026-05-21T08:25:52Z</dcterms:created>
  <dcterms:modified xsi:type="dcterms:W3CDTF">2026-05-21T19:34:26Z</dcterms:modified>
</cp:coreProperties>
</file>